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761"/>
                </a:solidFill>
                <a:latin typeface="IBM Plex Sans Thai"/>
              </a:defRPr>
            </a:pPr>
            <a:r>
              <a:t>สัมมนาสำเร็จการศึกษาและการค้นหาแนวทาง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41413"/>
                </a:solidFill>
                <a:latin typeface="Sarabun"/>
              </a:defRPr>
            </a:pPr>
            <a:r>
              <a:t>ธนาคารพาณิชย์ไทย จำกัด (มหาชน) — 26 เมษายน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วาระการประชุม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บริบทเศรษฐกิจและกฎระเบียบ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ความกดดันด้านดิจิทัลและข้อกำหนดทางกฎหมายใหม่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ท้าทายการดำเนินการปัจจุบัน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ความล้าสมัยของระบบหลัก NPL และการจัดการส่วนสนับสนุน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วิสัยทัศน์สำหรับการทำงาน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ผลิตภาพการจัดการกิจการและประสิทธิภาพลูกค้า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ขั้นตอนและผู้รับผิดชอบ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บทบาท คำมั่นสัญญา และเวลาสำหรับขั้นตอนต่อไป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เกี่ยวกับเรา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1413"/>
                </a:solidFill>
                <a:latin typeface="Sarabun"/>
              </a:defRPr>
            </a:pPr>
            <a:r>
              <a:t>บริษัทที่ให้บริการปรึกษาด้านการเงินและดิจิทัล</a:t>
            </a:r>
            <a:br/>
            <a:r>
              <a:t>ทีมงาน 50+ ผู้เชี่ยวชาญ ประสบการณ์ 15+ ปี</a:t>
            </a:r>
            <a:br/>
            <a:r>
              <a:t>สำเร็จการศึกษา 150+ ธนาคาร และสถาบันการเงิน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1413"/>
                </a:solidFill>
                <a:latin typeface="Sarabun"/>
              </a:defRPr>
            </a:pPr>
            <a:r>
              <a:t>150+</a:t>
            </a:r>
            <a:br/>
            <a:r>
              <a:t>สถาบันการเงิน</a:t>
            </a:r>
            <a:br/>
            <a:r>
              <a:t>ได้ลด NPL ลง 25-40% โดยเฉลี่ย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สิ่งที่เราต้องการทำความเข้าใจ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ความสำคัญของการเปลี่ยนแปลง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เหตุใดการรักษาเสถียรภาพของระบบหลักจึงเป็นสิ่งสำคัญ และผลกระทบหากไม่ดำเนินการ?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กำลังขับเคลื่อนต้นทุน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ต้นทุนปลายปีของการให้บริการลูกค้าด้วยตนเองคืออะไร?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บทบาทเทคโนโลยี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ระบบเทคโนโลยีสมัยใหม่จะลดการจัดการแบบแมนนวลได้อย่างไร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ความเสี่ยงด้านการปฏิบัติตามกฎหมายและข้อมูล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ความเสี่ยงใดที่ความพ่ายแพ้ของระบบโบราณอาจนำมาสู่คุณ?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D97757"/>
                </a:solidFill>
                <a:latin typeface="IBM Plex Sans Thai"/>
              </a:defRPr>
            </a:pPr>
            <a: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IBM Plex Sans Thai"/>
              </a:defRPr>
            </a:pPr>
            <a:r>
              <a:t>ธนาคารรีเทลอเมริกันตัดสินใจเปลี่ยนระบบปลายปีนี้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1413"/>
                </a:solidFill>
                <a:latin typeface="Sarabun"/>
              </a:defRPr>
            </a:pPr>
            <a:r>
              <a:t>บริบททั่วภูมิภาค: โลจิสติกส์ดิจิทัล การปรับปรุง IFRS9 และกฎระเบียบของสำนักงาน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ปัญหาทั่วไปของธนาคารขนาดกลาง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1413"/>
                </a:solidFill>
                <a:latin typeface="Sarabun"/>
              </a:defRPr>
            </a:pPr>
            <a:r>
              <a:t>ความล้าสมัยของระบบหลัก: การจัดการข้อมูลแบบแยกส่วน</a:t>
            </a:r>
            <a:br/>
            <a:r>
              <a:t>ความเสี่ยง NPL: ข้อมูลที่ไม่ถูกต้องนำไปสู่อัตราเงินสูง</a:t>
            </a:r>
            <a:br/>
            <a:r>
              <a:t>การทำให้อัตโนมัติลดลง: การปรับปรุง IFRS9 และการรายงานการปฏิบัติตามกฎหมาย</a:t>
            </a:r>
            <a:br/>
            <a:r>
              <a:t>ความไม่พึงพอใจของพนักงาน: การจัดการแบบแมนนวล ความล่าช้า คุณภาพ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1413"/>
                </a:solidFill>
                <a:latin typeface="Sarabun"/>
              </a:defRPr>
            </a:pPr>
            <a:r>
              <a:t>ผลกระทบ: ต้นทุนการเก็บรักษา 30-50% ของการใช้เทคโนโลยี</a:t>
            </a:r>
            <a:br/>
            <a:r>
              <a:t>ผลกระทบ: กลายเป็นความเสี่ยง 25-40% ของอัตราการแปลงร้อยละ</a:t>
            </a:r>
            <a:br/>
            <a:r>
              <a:t>ผลกระทบ: การเข้าใจผิดและข้อผิดพลาดในการรายงาน</a:t>
            </a:r>
            <a:br/>
            <a:r>
              <a:t>ผลกระทบ: อัตราการเสียหายพนักงาน 35-50% ต่อปี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แนวทางที่ดี: วิสัยทัศน์ของเรา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ระบบข้อมูลแบบรวมศูนย์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มุมมองแบบเรียลไทม์ของลูกค้า บัญชี และการเสี่ยงโดยไม่หน่วงเหน็ง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การนำรองนอกแบบอัตโนมัติ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IFRS9 และการปฏิบัติตามกฎหมายจะนำมาเสนอตลอดเวลาโดยไม่มีการแทรกแซงแบบแมนนวล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ประสบการณ์ลูกค้าทันสมัย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ลดระยะเวลาในการหลีกหนีจากเดือนเป็นวัน แต่ยังคงเป็นคนเป็นศูนย์กลาง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ความสามารถในการจัดการทีมงาน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พนักงานมีเวลาสำหรับงานที่มีความหมาย พูดคุยกับลูกค้า แทนที่จะใช้ข้อมูล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วิธีการทั่วไป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04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48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การค้นหา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684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116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260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การออกแบบ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996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428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572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การผลิต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08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740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884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การยอมรับ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620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76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50527" y="2743200"/>
            <a:ext cx="1828800" cy="1097280"/>
          </a:xfrm>
          <a:prstGeom prst="rect">
            <a:avLst/>
          </a:prstGeom>
          <a:solidFill>
            <a:srgbClr val="1E2761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196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arabun"/>
              </a:defRPr>
            </a:pPr>
            <a:r>
              <a:t>การสนับสนุน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สิ่งที่เราต้องการจากคุณ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การเข้าถึงข้อมูลและการปรึกษา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สิทธิ์การเข้าถึงระบบหลัก NPL ข้อมูลลูกค้า ข้อมูลเบื้องต้น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ทีมสปอนเซอร์และการตัดสินใจ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บัญชีชั้นสูง อำนาจจำนายของปลายแบบปลีก CRO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ความพร้อมในการแบ่งปันความต้องการ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ขณะนี้ทำงาน และเดือนหน้า — เพื่อให้ความเร็วสูง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  <a:latin typeface="IBM Plex Sans Thai"/>
              </a:defRPr>
            </a:pPr>
            <a:r>
              <a:t>ขั้นตอนถัดไป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สัปดาห์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B66"/>
                </a:solidFill>
                <a:latin typeface="Sarabun"/>
              </a:defRPr>
            </a:pPr>
            <a:r>
              <a:t>2 สัปดาห์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ความเข้าใจและการตั้งค่า — การประเมินปัญหาเบื้องต้น ชุมชน ประเภท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สัปดาห์ 3-4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B66"/>
                </a:solidFill>
                <a:latin typeface="Sarabun"/>
              </a:defRPr>
            </a:pPr>
            <a:r>
              <a:t>2 สัปดาห์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การสำรวจความลึก — การสัมภาษณ์ทีมหลัก กระแสงาน สถิติ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สัปดาห์ 5-6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B66"/>
                </a:solidFill>
                <a:latin typeface="Sarabun"/>
              </a:defRPr>
            </a:pPr>
            <a:r>
              <a:t>2 สัปดาห์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โครงร่างโซลูชัน — แนวคิดความเหมาะสม ความเสี่ยง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IBM Plex Sans Thai"/>
              </a:defRPr>
            </a:pPr>
            <a:r>
              <a:t>สัปดาห์ 7+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B66"/>
                </a:solidFill>
                <a:latin typeface="Sarabun"/>
              </a:defRPr>
            </a:pPr>
            <a:r>
              <a:t>บัญชีแต่ละช่วง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3"/>
                </a:solidFill>
                <a:latin typeface="Sarabun"/>
              </a:defRPr>
            </a:pPr>
            <a:r>
              <a:t>สอบรับการตัดสินใจและการจัดการของเรา — ช่วงสารภาพการกลับมา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E6B66"/>
                </a:solidFill>
                <a:latin typeface="Inter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