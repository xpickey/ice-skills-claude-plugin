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Inter Tight"/>
              </a:defRPr>
            </a:pPr>
            <a:r>
              <a:t>Microsoft Dynamics 365 + Power Platform Regional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Inter"/>
              </a:defRPr>
            </a:pPr>
            <a:r>
              <a:t>Regional Tech HQ — APAC Unified Workload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Recommendation: Proceed with 18-month rollout of Dynamics 365 Sales, Customer Service, and Power Platform</a:t>
            </a:r>
            <a:br/>
            <a:r>
              <a:t>Investment: $3.2M (software, services, training)</a:t>
            </a:r>
            <a:br/>
            <a:r>
              <a:t>Key Business Driver: Unify fragmented sales and customer data across 8 APAC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Expected ROI: 35% year 1; payback in 28 months</a:t>
            </a:r>
            <a:br/>
            <a:r>
              <a:t>Primary Benefits: 40% faster deal closure, 25% higher CSAT, 20% sales productivity gain</a:t>
            </a:r>
            <a:br/>
            <a:r>
              <a:t>Risk: Low — Microsoft has proven track record in APAC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0078D4"/>
                </a:solidFill>
                <a:latin typeface="Inter Tight"/>
              </a:defRPr>
            </a:pPr>
            <a:r>
              <a:t>$12M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Inter Tight"/>
              </a:defRPr>
            </a:pPr>
            <a:r>
              <a:t>Annual Revenue at Risk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Inter"/>
              </a:defRPr>
            </a:pPr>
            <a:r>
              <a:t>Lack of real-time customer visibility; 9 different CRM systems; delayed pipeline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Why This Matters Now: Regulatory &amp; Competitive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Data Sovereignty: APAC governments tightening data residency rules (PDPA, RMDP, GDPR UK).</a:t>
            </a:r>
            <a:br/>
            <a:r>
              <a:t>Competitive Threat: Rivals unified on single CRM; we're fragmented.</a:t>
            </a:r>
            <a:br/>
            <a:r>
              <a:t>Cloud Maturity: 60% of regional competitors already on Azure/Dynamics.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Risk of Inaction: Miss 18-month opportunity; competitors consolidate further.</a:t>
            </a:r>
            <a:br/>
            <a:r>
              <a:t>Regulatory Exposure: Fines for non-compliance with APAC data rules (up to 4% of revenue).</a:t>
            </a:r>
            <a:br/>
            <a:r>
              <a:t>Customer Experience Debt: Each contact repeated across 9 systems; errors cascade.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Pain Themes — What We Heard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Theme 1: Fragmented Sales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9 regional systems; no single view of customer; reps re-enter data per market. Sales leader: 'I don't know our true pipeline until month-end.'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Theme 2: Slow Deal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No real-time opportunity scoring; forecasts delayed 2 weeks. 40% deal slip because handoff between sales and CS is chaotic.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Theme 3: Customer Service Islands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Each market runs own support ticketing. Escalations take days; customers re-explain issues 3x. CSAT stuck at 72%.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29199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2919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Theme 4: Regulatory Compliance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59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No audit trail for APAC data flows. PDPA audit findings: 'Data dispersed, no central control.' Risk of penalty.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Before: 9 systems, 6+ months deal cycle, 72% CSAT</a:t>
            </a:r>
            <a:br/>
            <a:r>
              <a:t>Business Outcomes: 4 months faster; 92% CSAT; 1 view per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Sales dashboard shows real-time pipeline across all markets</a:t>
            </a:r>
            <a:br/>
            <a:r>
              <a:t>Customer service resolves 90% of tickets without escalation</a:t>
            </a:r>
            <a:br/>
            <a:r>
              <a:t>Finance sees accurate ARR and gross margin by customer, instantly</a:t>
            </a:r>
            <a:br/>
            <a:r>
              <a:t>Data governance: PDPA-audit ready in 15 minutes (vs. 8 weeks today)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Our Solution — Microsoft Dynamics 365 + Power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Core System: Dynamics 365 Sales (unified pipeline)</a:t>
            </a:r>
            <a:br/>
            <a:r>
              <a:t>Service Module: Dynamics 365 Customer Service (ticketing, knowledge)</a:t>
            </a:r>
            <a:br/>
            <a:r>
              <a:t>Automation: Power Automate (workflow orchestration)</a:t>
            </a:r>
            <a:br/>
            <a:r>
              <a:t>Analytics: Power BI (real-time dashboards)</a:t>
            </a:r>
            <a:br/>
            <a:r>
              <a:t>Integration: Azure Logic Apps (ERP, marketing platform, HRIS)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Why Microsoft: Cloud-native, APAC region, PDPA-compliant, low cost of ownership</a:t>
            </a:r>
            <a:br/>
            <a:r>
              <a:t>Why Now: 18-month window before PDPA enforcement tightens (Q1 2027)</a:t>
            </a:r>
            <a:br/>
            <a:r>
              <a:t>Regional Advantage: Azure data center in Singapore + Bangkok; &lt;50ms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How Each Solution Solves Each Pain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Pain: 9 Fragmented Systems → Solution: Single Dynamics 365 Instance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All 8 APAC countries on one platform; master data centralized; sync to local systems if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Pain: Slow Deal Cycles → Solution: Sales Intelligence +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AI-powered opportunity scoring; mobile alerts for at-risk deals; cycle time cut by 40%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Pain: Service Silos → Solution: D365 Customer Service + Knowledge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Cross-region ticket routing; AI chatbots resolve 50% before human touch; CSAT +20 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29199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2919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Pain: Compliance Gaps → Solution: Azure AD + Encryption + Audit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59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All APAC data stays in APAC region; compliance report auto-generated; ready for regulators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Why Microsoft Over Salesforce or SAP CRM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Platform Flexibility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Power Platform lets you build custom workflows without licensing new tools. Salesforce: $500/month/app. Us: $150/month.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APAC Data Residency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Data stays in Singapore/Bangkok. Salesforce: Regional tier costs 2x more. SAP: No native APAC offering.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Integration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Azure Logic Apps + Dynamics = native connectors. Salesforce: MuleSoft middleware ($150K+). You save $200K.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29199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2919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Total Cost of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59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5-year TCO: D365 $4.8M vs Salesforce $7.2M vs SAP $9.1M. Winner: Microsoft (35% cheaper).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Phase 1: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Weeks 1-12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Infrastructure, master data, user training. Go-live in Singapore and Australia.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Phase 2: Regional Rollout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Weeks 13-24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Thailand, Malaysia, Indonesia. Knowledge transfer to regional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Phase 3: Service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Weeks 25-36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AI tuning, workflow optimization, cost reduction play.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Phase 4: Advanced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Weeks 37-52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Predictive sales, customer lifetime value, expansion scoring.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Investment Summary — 18-Month Rollout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80160"/>
          <a:ext cx="108200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Cost (USD)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Software Licensing</a:t>
                      </a:r>
                    </a:p>
                  </a:txBody>
                  <a:tcPr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$1,200,000</a:t>
                      </a:r>
                    </a:p>
                  </a:txBody>
                  <a:tcPr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D365 Sales + Service seats; Power BI; 18 months prepaid</a:t>
                      </a:r>
                    </a:p>
                  </a:txBody>
                  <a:tcPr>
                    <a:solidFill>
                      <a:srgbClr val="94A3B8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Professional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$1,100,000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Implementation partner; data migration; training; change mgmt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Infrastructure &amp; Support</a:t>
                      </a:r>
                    </a:p>
                  </a:txBody>
                  <a:tcPr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$500,000</a:t>
                      </a:r>
                    </a:p>
                  </a:txBody>
                  <a:tcPr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Azure environment; premium support; training platform</a:t>
                      </a:r>
                    </a:p>
                  </a:txBody>
                  <a:tcPr>
                    <a:solidFill>
                      <a:srgbClr val="94A3B8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Change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$400,000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Comms; training; helpdesk support for 12 months post-go-live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$3,200,000</a:t>
                      </a:r>
                    </a:p>
                  </a:txBody>
                  <a:tcPr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Includes all software, services, and 12 months post-launch support</a:t>
                      </a:r>
                    </a:p>
                  </a:txBody>
                  <a:tcPr>
                    <a:solidFill>
                      <a:srgbClr val="94A3B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Total Cost of Ownership (5-Year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Year 1: $3.2M (rollout + training)</a:t>
            </a:r>
            <a:br/>
            <a:r>
              <a:t>Years 2-5: $400K/year (licenses + support)</a:t>
            </a:r>
            <a:br/>
            <a:r>
              <a:t>5-Year Total: $4.8M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Comparison: Salesforce TCO 5yr = $7.2M (+50%)</a:t>
            </a:r>
            <a:br/>
            <a:r>
              <a:t>Comparison: SAP CRM TCO 5yr = $9.1M (+89%)</a:t>
            </a:r>
            <a:br/>
            <a:r>
              <a:t>Winner: Microsoft saves $2.4M vs Salesforce over 5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Return on Investment (5-Year Projection)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Year 1: Deal cycle -2 months = $5M revenue acceleration</a:t>
            </a:r>
            <a:br/>
            <a:r>
              <a:t>Year 1: Sales productivity +20% = $2M margin gain</a:t>
            </a:r>
            <a:br/>
            <a:r>
              <a:t>Year 1: CSAT +20 points = 15% churn reduction = $3M ARR retained</a:t>
            </a:r>
            <a:br/>
            <a:r>
              <a:t>Year 1 Total Benefit: $10M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Payback Period: 5 quarters (Year 1 Q4 + Q1 Y2)</a:t>
            </a:r>
            <a:br/>
            <a:r>
              <a:t>Year 5 IRR: 45% (exceptional for enterprise software)</a:t>
            </a:r>
            <a:br/>
            <a:r>
              <a:t>NPV (10% discount): $14.2M</a:t>
            </a:r>
            <a:br/>
            <a:r>
              <a:t>Cumulative Benefit Year 1-5: $45M vs cost $4.8M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Risks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User Adoption Risk: Complex change across 8 markets</a:t>
            </a:r>
            <a:br/>
            <a:r>
              <a:t>Mitigation: $400K change mgmt budget; local champions; pilot-first approach</a:t>
            </a:r>
            <a:br/>
            <a:r>
              <a:t>Data Quality Risk: Master data is inconsistent across 9 systems</a:t>
            </a:r>
            <a:br/>
            <a:r>
              <a:t>Mitigation: 8-week data cleansing sprint before go-live; governance rules enforced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Regulatory Risk: PDPA audits during rollout; delays</a:t>
            </a:r>
            <a:br/>
            <a:r>
              <a:t>Mitigation: Compliance officer on steering committee; audit-ready checklist</a:t>
            </a:r>
            <a:br/>
            <a:r>
              <a:t>Performance Risk: Regional cloud latency; user experience poor</a:t>
            </a:r>
            <a:br/>
            <a:r>
              <a:t>Mitigation: Azure Singapore + Bangkok regions; &lt;50ms SLA; failover to geographically closest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Customer References — Similar Scale &amp; Geography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Tech Firm, 300-person regional HQ (Singapore)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Unified 5 regional CRM instances on D365. Cycle time: 9 months → 5.5 months. CSAT: 75% → 91%. Go-live: Mar 2024.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SaaS Company, 200-person APAC hub (Bangkok)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Migrated from Salesforce to D365. Annual software cost: $500K → $280K. ROI in Year 1. Go-live: Sep 2023.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Financial Services, Multi-Country (Singapore/HK/Bangkok)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Dynamics 365 + Power BI for credit sales + audit. PDPA compliance: audit-ready in 2 hours (vs 6 weeks before). Go-live: Jan 2024.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0078D4"/>
                </a:solidFill>
                <a:latin typeface="Inter Tight"/>
              </a:defRPr>
            </a:pPr>
            <a:r>
              <a:t>92%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Inter Tight"/>
              </a:defRPr>
            </a:pPr>
            <a:r>
              <a:t>Average CSAT Achieved by D365 Customers in APAC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Inter"/>
              </a:defRPr>
            </a:pPr>
            <a:r>
              <a:t>Microsoft customer data, YoY 2023-2024. You: 72% today. Improvement potential: +20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What We Need to Move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Decision — Steering Committee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CFO + CMO + CHRO sign-off on $3.2M investment; timeline commitment through Q4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Data — Master Data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Export of customer, opportunity, and account master data from all 9 systems by May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Engagement — Implementation Partner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Microsoft or Avanade to execute. Final SOW and resource plan by June 15.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Closing: Why This Proposal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1. Solves Real Problem: $12M at-risk revenue from fragmentation</a:t>
            </a:r>
            <a:br/>
            <a:r>
              <a:t>2. Rapid ROI: Payback in 5 quarters; $45M benefit over 5 years</a:t>
            </a:r>
            <a:br/>
            <a:r>
              <a:t>3. Market-Leading Tech: Microsoft's APAC footprint, PDPA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4. Proven References: 3 similar-scale wins in region; all exceeded expectations</a:t>
            </a:r>
            <a:br/>
            <a:r>
              <a:t>5. Risk-Mitigated: Experienced partner; phased approach; governance in place</a:t>
            </a:r>
            <a:br/>
            <a:r>
              <a:t>6. Competitive Urgency: 18-month window before APAC regulatory tightening (Q1 2027)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 Tight"/>
              </a:defRPr>
            </a:pPr>
            <a:r>
              <a:t>Decision Checkpoint: May 10,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April 26-May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1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Q&amp;A, financial deep-dive, reference calls to similar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May 4-10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1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Steering committee prepares 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May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Decision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Board-level approval; sign SOW; declare intent to proceed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 Tight"/>
              </a:defRPr>
            </a:pPr>
            <a:r>
              <a:t>May 17+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Inter"/>
              </a:defRPr>
            </a:pPr>
            <a:r>
              <a:t>Foundation phase begins; partner mobilization; master data sprint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Inter"/>
              </a:defRPr>
            </a:pPr>
            <a: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