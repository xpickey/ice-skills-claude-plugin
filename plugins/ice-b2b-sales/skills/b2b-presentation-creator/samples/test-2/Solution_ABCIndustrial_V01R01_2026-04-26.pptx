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6454F"/>
          </a:solidFill>
          <a:ln>
            <a:solidFill>
              <a:srgbClr val="364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6454F"/>
                </a:solidFill>
                <a:latin typeface="Manrope"/>
              </a:defRPr>
            </a:pPr>
            <a:r>
              <a:t>Proposed Oracle Fusion Cloud ERP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1A1A"/>
                </a:solidFill>
                <a:latin typeface="Sarabun"/>
              </a:defRPr>
            </a:pPr>
            <a:r>
              <a:t>ABC Industrial Co Ltd — Manufacturing Excellence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C5C5C"/>
                </a:solidFill>
                <a:latin typeface="Inter"/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0"/>
          </a:xfrm>
          <a:prstGeom prst="rect">
            <a:avLst/>
          </a:prstGeom>
          <a:solidFill>
            <a:srgbClr val="B0B7C0"/>
          </a:solidFill>
          <a:ln>
            <a:solidFill>
              <a:srgbClr val="B0B7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C74634"/>
                </a:solidFill>
                <a:latin typeface="Manrope"/>
              </a:defRPr>
            </a:pPr>
            <a:r>
              <a:t>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6454F"/>
                </a:solidFill>
                <a:latin typeface="Manrope"/>
              </a:defRPr>
            </a:pPr>
            <a:r>
              <a:t>Potential OEE Improvement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292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1A"/>
                </a:solidFill>
                <a:latin typeface="Sarabun"/>
              </a:defRPr>
            </a:pPr>
            <a:r>
              <a:t>Through real-time production visibility and shop-floor data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C5C5C"/>
                </a:solidFill>
                <a:latin typeface="Inter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6454F"/>
                </a:solidFill>
                <a:latin typeface="Manrope"/>
              </a:defRPr>
            </a:pPr>
            <a:r>
              <a:t>What We Heard from Your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53336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Sarabun"/>
              </a:defRPr>
            </a:pPr>
            <a:r>
              <a:t>Production planning is fragmented across Excel sheets</a:t>
            </a:r>
            <a:br/>
            <a:r>
              <a:t>No real-time visibility into OEE, downtime, or quality</a:t>
            </a:r>
            <a:br/>
            <a:r>
              <a:t>Supplier data arrives late; integration is manual</a:t>
            </a:r>
            <a:br/>
            <a:r>
              <a:t>Plant-floor cost tracking requires 5+ manual processes</a:t>
            </a:r>
            <a:br/>
            <a:r>
              <a:t>Financial close takes 15 days; should be 3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188720"/>
            <a:ext cx="53336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Sarabun"/>
              </a:defRPr>
            </a:pPr>
            <a:r>
              <a:t>Khun Somchai, Production: 'We're blind to real-time issues'</a:t>
            </a:r>
            <a:br/>
            <a:r>
              <a:t>Khun Niran, Finance: 'Cost allocation is our biggest bottleneck'</a:t>
            </a:r>
            <a:br/>
            <a:r>
              <a:t>Khun Pim, Supply Chain: 'We need live supplier visibility'</a:t>
            </a:r>
            <a:br/>
            <a:r>
              <a:t>Khun Ananda, Quality: 'Each defect is traced manually'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C5C5C"/>
                </a:solidFill>
                <a:latin typeface="Inter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6454F"/>
                </a:solidFill>
                <a:latin typeface="Manrope"/>
              </a:defRPr>
            </a:pPr>
            <a:r>
              <a:t>What Success Means to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274320" cy="274320"/>
          </a:xfrm>
          <a:prstGeom prst="rect">
            <a:avLst/>
          </a:prstGeom>
          <a:solidFill>
            <a:srgbClr val="C74634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6454F"/>
                </a:solidFill>
                <a:latin typeface="Manrope"/>
              </a:defRPr>
            </a:pPr>
            <a:r>
              <a:t>Real-Time Production Visibility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Sarabun"/>
              </a:defRPr>
            </a:pPr>
            <a:r>
              <a:t>OEE dashboard, downtime alerts, root-cause tracking — live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468880"/>
            <a:ext cx="274320" cy="274320"/>
          </a:xfrm>
          <a:prstGeom prst="rect">
            <a:avLst/>
          </a:prstGeom>
          <a:solidFill>
            <a:srgbClr val="C74634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6454F"/>
                </a:solidFill>
                <a:latin typeface="Manrope"/>
              </a:defRPr>
            </a:pPr>
            <a:r>
              <a:t>Integrated Supplier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Sarabun"/>
              </a:defRPr>
            </a:pPr>
            <a:r>
              <a:t>Quality metrics, delivery schedules, cost shared with partners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49039"/>
            <a:ext cx="274320" cy="274320"/>
          </a:xfrm>
          <a:prstGeom prst="rect">
            <a:avLst/>
          </a:prstGeom>
          <a:solidFill>
            <a:srgbClr val="C74634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39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6454F"/>
                </a:solidFill>
                <a:latin typeface="Manrope"/>
              </a:defRPr>
            </a:pPr>
            <a:r>
              <a:t>Automated Plant-Floor Costing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Sarabun"/>
              </a:defRPr>
            </a:pPr>
            <a:r>
              <a:t>Labor, materials, overhead allocated in real-time by product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029199"/>
            <a:ext cx="274320" cy="274320"/>
          </a:xfrm>
          <a:prstGeom prst="rect">
            <a:avLst/>
          </a:prstGeom>
          <a:solidFill>
            <a:srgbClr val="C74634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029199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6454F"/>
                </a:solidFill>
                <a:latin typeface="Manrope"/>
              </a:defRPr>
            </a:pPr>
            <a:r>
              <a:t>3-Day Financial Close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94959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Sarabun"/>
              </a:defRPr>
            </a:pPr>
            <a:r>
              <a:t>Close the month in 72 hours with full GL reconciliation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C5C5C"/>
                </a:solidFill>
                <a:latin typeface="Inter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6454F"/>
                </a:solidFill>
                <a:latin typeface="Manrope"/>
              </a:defRPr>
            </a:pPr>
            <a:r>
              <a:t>Our Engagement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047" y="2743200"/>
            <a:ext cx="1828800" cy="1097280"/>
          </a:xfrm>
          <a:prstGeom prst="rect">
            <a:avLst/>
          </a:prstGeom>
          <a:solidFill>
            <a:srgbClr val="36454F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9487" y="2834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6F8"/>
                </a:solidFill>
                <a:latin typeface="Sarabun"/>
              </a:defRPr>
            </a:pPr>
            <a:r>
              <a:t>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6847" y="31089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6454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1167" y="2743200"/>
            <a:ext cx="1828800" cy="1097280"/>
          </a:xfrm>
          <a:prstGeom prst="rect">
            <a:avLst/>
          </a:prstGeom>
          <a:solidFill>
            <a:srgbClr val="36454F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32607" y="2834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6F8"/>
                </a:solidFill>
                <a:latin typeface="Sarabun"/>
              </a:defRPr>
            </a:pPr>
            <a: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9967" y="31089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6454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44287" y="2743200"/>
            <a:ext cx="1828800" cy="1097280"/>
          </a:xfrm>
          <a:prstGeom prst="rect">
            <a:avLst/>
          </a:prstGeom>
          <a:solidFill>
            <a:srgbClr val="36454F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35727" y="2834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6F8"/>
                </a:solidFill>
                <a:latin typeface="Sarabun"/>
              </a:defRPr>
            </a:pPr>
            <a:r>
              <a:t>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3087" y="31089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6454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47407" y="2743200"/>
            <a:ext cx="1828800" cy="1097280"/>
          </a:xfrm>
          <a:prstGeom prst="rect">
            <a:avLst/>
          </a:prstGeom>
          <a:solidFill>
            <a:srgbClr val="36454F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8847" y="2834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6F8"/>
                </a:solidFill>
                <a:latin typeface="Sarabun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6207" y="31089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6454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50527" y="2743200"/>
            <a:ext cx="1828800" cy="1097280"/>
          </a:xfrm>
          <a:prstGeom prst="rect">
            <a:avLst/>
          </a:prstGeom>
          <a:solidFill>
            <a:srgbClr val="36454F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1967" y="2834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6F8"/>
                </a:solidFill>
                <a:latin typeface="Sarabun"/>
              </a:defRPr>
            </a:pPr>
            <a:r>
              <a:t>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C5C5C"/>
                </a:solidFill>
                <a:latin typeface="Inter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6454F"/>
                </a:solidFill>
                <a:latin typeface="Manrope"/>
              </a:defRPr>
            </a:pPr>
            <a:r>
              <a:t>Solution Architecture — Oracle Fusion Cloud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53336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Sarabun"/>
              </a:defRPr>
            </a:pPr>
            <a:r>
              <a:t>Oracle Fusion Cloud ERP core modules:</a:t>
            </a:r>
            <a:br/>
            <a:r>
              <a:t>— Production Planning &amp; Execution</a:t>
            </a:r>
            <a:br/>
            <a:r>
              <a:t>— Supply Chain Management</a:t>
            </a:r>
            <a:br/>
            <a:r>
              <a:t>— Cost Accounting &amp; Analysis</a:t>
            </a:r>
            <a:br/>
            <a:r>
              <a:t>— General Ledger &amp; Financials</a:t>
            </a:r>
            <a:br/>
            <a:r>
              <a:t>Integrated with shop-floor IoT sensors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188720"/>
            <a:ext cx="53336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Sarabun"/>
              </a:defRPr>
            </a:pPr>
            <a:r>
              <a:t>Cloud deployment (OCI region: Bangkok)</a:t>
            </a:r>
            <a:br/>
            <a:r>
              <a:t>Real-time data ingestion from plant floor</a:t>
            </a:r>
            <a:br/>
            <a:r>
              <a:t>API integrations with supplier portals</a:t>
            </a:r>
            <a:br/>
            <a:r>
              <a:t>Automated closing &amp; consolidation workflows</a:t>
            </a:r>
            <a:br/>
            <a:r>
              <a:t>Native mobile access for site managers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C5C5C"/>
                </a:solidFill>
                <a:latin typeface="Inter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6454F"/>
                </a:solidFill>
                <a:latin typeface="Manrope"/>
              </a:defRPr>
            </a:pPr>
            <a:r>
              <a:t>How Fusion Solves Each Pain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274320" cy="274320"/>
          </a:xfrm>
          <a:prstGeom prst="rect">
            <a:avLst/>
          </a:prstGeom>
          <a:solidFill>
            <a:srgbClr val="C74634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6454F"/>
                </a:solidFill>
                <a:latin typeface="Manrope"/>
              </a:defRPr>
            </a:pPr>
            <a:r>
              <a:t>Pain: Fragmented Production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Sarabun"/>
              </a:defRPr>
            </a:pPr>
            <a:r>
              <a:t>Solution: Oracle Fusion Planning Module → unified demand/supply planning, real-time constraints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468880"/>
            <a:ext cx="274320" cy="274320"/>
          </a:xfrm>
          <a:prstGeom prst="rect">
            <a:avLst/>
          </a:prstGeom>
          <a:solidFill>
            <a:srgbClr val="C74634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6454F"/>
                </a:solidFill>
                <a:latin typeface="Manrope"/>
              </a:defRPr>
            </a:pPr>
            <a:r>
              <a:t>Pain: No OEE 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Sarabun"/>
              </a:defRPr>
            </a:pPr>
            <a:r>
              <a:t>Solution: Manufacturing Intelligence Dashboard → KPIs updated every 5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49039"/>
            <a:ext cx="274320" cy="274320"/>
          </a:xfrm>
          <a:prstGeom prst="rect">
            <a:avLst/>
          </a:prstGeom>
          <a:solidFill>
            <a:srgbClr val="C74634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39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6454F"/>
                </a:solidFill>
                <a:latin typeface="Manrope"/>
              </a:defRPr>
            </a:pPr>
            <a:r>
              <a:t>Pain: Late Supplier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Sarabun"/>
              </a:defRPr>
            </a:pPr>
            <a:r>
              <a:t>Solution: Supplier Portal + Auto-Receipt → real-time shipment visibility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029199"/>
            <a:ext cx="274320" cy="274320"/>
          </a:xfrm>
          <a:prstGeom prst="rect">
            <a:avLst/>
          </a:prstGeom>
          <a:solidFill>
            <a:srgbClr val="C74634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029199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6454F"/>
                </a:solidFill>
                <a:latin typeface="Manrope"/>
              </a:defRPr>
            </a:pPr>
            <a:r>
              <a:t>Pain: 15-Day Financial Close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94959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Sarabun"/>
              </a:defRPr>
            </a:pPr>
            <a:r>
              <a:t>Solution: Closed-Loop Costing + Auto GL → 3-day close guaranteed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C5C5C"/>
                </a:solidFill>
                <a:latin typeface="Inter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6454F"/>
                </a:solidFill>
                <a:latin typeface="Manrope"/>
              </a:defRPr>
            </a:pPr>
            <a:r>
              <a:t>Day-in-the-Life: Khun Somchai (Production Manager)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53336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Sarabun"/>
              </a:defRPr>
            </a:pPr>
            <a:r>
              <a:t>6:00 AM: Checks Oracle Fusion mobile app</a:t>
            </a:r>
            <a:br/>
            <a:r>
              <a:t>• OEE dashboard shows 82% (up from 75% yesterday)</a:t>
            </a:r>
            <a:br/>
            <a:r>
              <a:t>• Downtime alert: Press Line B stopped at 5:45 AM</a:t>
            </a:r>
            <a:br/>
            <a:r>
              <a:t>6:15 AM: Calls maintenance; root cause is bad die</a:t>
            </a:r>
            <a:br/>
            <a:r>
              <a:t>6:30 AM: Dies ordered from suppliers; ETA 8:00 AM</a:t>
            </a:r>
            <a:br/>
            <a:r>
              <a:t>8:30 AM: Production resumes, OEE recovers to 85%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188720"/>
            <a:ext cx="53336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Sarabun"/>
              </a:defRPr>
            </a:pPr>
            <a:r>
              <a:t>Why this matters:</a:t>
            </a:r>
            <a:br/>
            <a:r>
              <a:t>Before Fusion: Khun Somchai gets a call at 9 AM</a:t>
            </a:r>
            <a:br/>
            <a:r>
              <a:t>Before Fusion: By then, 3+ hours of production lost</a:t>
            </a:r>
            <a:br/>
            <a:r>
              <a:t>Before Fusion: No clear root cause; guess &amp; hope</a:t>
            </a:r>
            <a:br/>
            <a:r>
              <a:t>With Fusion: Alert in seconds; action in minutes</a:t>
            </a:r>
            <a:br/>
            <a:r>
              <a:t>With Fusion: Save 50+ units/day; avoid 30%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C5C5C"/>
                </a:solidFill>
                <a:latin typeface="Inter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6454F"/>
                </a:solidFill>
                <a:latin typeface="Manrope"/>
              </a:defRPr>
            </a:pPr>
            <a:r>
              <a:t>Why Oracle Fusion Beats the Alternatives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274320" cy="274320"/>
          </a:xfrm>
          <a:prstGeom prst="rect">
            <a:avLst/>
          </a:prstGeom>
          <a:solidFill>
            <a:srgbClr val="C74634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6454F"/>
                </a:solidFill>
                <a:latin typeface="Manrope"/>
              </a:defRPr>
            </a:pPr>
            <a:r>
              <a:t>Complete P2P + O2C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Sarabun"/>
              </a:defRPr>
            </a:pPr>
            <a:r>
              <a:t>One system covers procurement, production, cost, GL (vs. patch-work)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468880"/>
            <a:ext cx="274320" cy="274320"/>
          </a:xfrm>
          <a:prstGeom prst="rect">
            <a:avLst/>
          </a:prstGeom>
          <a:solidFill>
            <a:srgbClr val="C74634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6454F"/>
                </a:solidFill>
                <a:latin typeface="Manrope"/>
              </a:defRPr>
            </a:pPr>
            <a:r>
              <a:t>Native Shop-Floor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Sarabun"/>
              </a:defRPr>
            </a:pPr>
            <a:r>
              <a:t>IoT sensors → Fusion MES → ERP (no middleware)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49039"/>
            <a:ext cx="274320" cy="274320"/>
          </a:xfrm>
          <a:prstGeom prst="rect">
            <a:avLst/>
          </a:prstGeom>
          <a:solidFill>
            <a:srgbClr val="C74634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39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6454F"/>
                </a:solidFill>
                <a:latin typeface="Manrope"/>
              </a:defRPr>
            </a:pPr>
            <a:r>
              <a:t>Cloud-Native Scalability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Sarabun"/>
              </a:defRPr>
            </a:pPr>
            <a:r>
              <a:t>Add new plants in hours, not months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029199"/>
            <a:ext cx="274320" cy="274320"/>
          </a:xfrm>
          <a:prstGeom prst="rect">
            <a:avLst/>
          </a:prstGeom>
          <a:solidFill>
            <a:srgbClr val="C74634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029199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6454F"/>
                </a:solidFill>
                <a:latin typeface="Manrope"/>
              </a:defRPr>
            </a:pPr>
            <a:r>
              <a:t>Data Pedigree &amp; 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94959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Sarabun"/>
              </a:defRPr>
            </a:pPr>
            <a:r>
              <a:t>Full audit trail, PDPA-ready, SLA-backed uptime 99.99%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C5C5C"/>
                </a:solidFill>
                <a:latin typeface="Inter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6454F"/>
                </a:solidFill>
                <a:latin typeface="Manrope"/>
              </a:defRPr>
            </a:pPr>
            <a: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6454F"/>
                </a:solidFill>
                <a:latin typeface="Manrope"/>
              </a:defRPr>
            </a:pPr>
            <a:r>
              <a:t>Foundation (Weeks 1-4)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5C5C"/>
                </a:solidFill>
                <a:latin typeface="Sarabun"/>
              </a:defRPr>
            </a:pPr>
            <a:r>
              <a:t>4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Sarabun"/>
              </a:defRPr>
            </a:pPr>
            <a:r>
              <a:t>Cloud environment, master data, user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6454F"/>
                </a:solidFill>
                <a:latin typeface="Manrope"/>
              </a:defRPr>
            </a:pPr>
            <a:r>
              <a:t>Core Go-Live (Weeks 5-8)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5C5C"/>
                </a:solidFill>
                <a:latin typeface="Sarabun"/>
              </a:defRPr>
            </a:pPr>
            <a:r>
              <a:t>4 weeks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74320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Sarabun"/>
              </a:defRPr>
            </a:pPr>
            <a:r>
              <a:t>Procurement, Inventory, Financials live in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6454F"/>
                </a:solidFill>
                <a:latin typeface="Manrope"/>
              </a:defRPr>
            </a:pPr>
            <a:r>
              <a:t>MES Integration (Weeks 9-12)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5C5C"/>
                </a:solidFill>
                <a:latin typeface="Sarabun"/>
              </a:defRPr>
            </a:pPr>
            <a:r>
              <a:t>4 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74320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Sarabun"/>
              </a:defRPr>
            </a:pPr>
            <a:r>
              <a:t>Shop floor sensors, OEE dashboard, KPI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6454F"/>
                </a:solidFill>
                <a:latin typeface="Manrope"/>
              </a:defRPr>
            </a:pPr>
            <a:r>
              <a:t>Optimization (Weeks 13+)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5C5C"/>
                </a:solidFill>
                <a:latin typeface="Sarabun"/>
              </a:defRPr>
            </a:pPr>
            <a:r>
              <a:t>ongoing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74320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Sarabun"/>
              </a:defRPr>
            </a:pPr>
            <a:r>
              <a:t>Process refinement, advanced analytics, cost reduction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C5C5C"/>
                </a:solidFill>
                <a:latin typeface="Inter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6454F"/>
                </a:solidFill>
                <a:latin typeface="Manrope"/>
              </a:defRPr>
            </a:pPr>
            <a:r>
              <a:t>What We Need from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274320" cy="274320"/>
          </a:xfrm>
          <a:prstGeom prst="rect">
            <a:avLst/>
          </a:prstGeom>
          <a:solidFill>
            <a:srgbClr val="C74634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6454F"/>
                </a:solidFill>
                <a:latin typeface="Manrope"/>
              </a:defRPr>
            </a:pPr>
            <a:r>
              <a:t>Data Access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Sarabun"/>
              </a:defRPr>
            </a:pPr>
            <a:r>
              <a:t>Master data, transaction history, chart of accounts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468880"/>
            <a:ext cx="274320" cy="274320"/>
          </a:xfrm>
          <a:prstGeom prst="rect">
            <a:avLst/>
          </a:prstGeom>
          <a:solidFill>
            <a:srgbClr val="C74634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6454F"/>
                </a:solidFill>
                <a:latin typeface="Manrope"/>
              </a:defRPr>
            </a:pPr>
            <a:r>
              <a:t>Steering Committee &amp; SME Availability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Sarabun"/>
              </a:defRPr>
            </a:pPr>
            <a:r>
              <a:t>Weekly decision gates; part-time SME commitment for 16 weeks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49039"/>
            <a:ext cx="274320" cy="274320"/>
          </a:xfrm>
          <a:prstGeom prst="rect">
            <a:avLst/>
          </a:prstGeom>
          <a:solidFill>
            <a:srgbClr val="C74634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39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6454F"/>
                </a:solidFill>
                <a:latin typeface="Manrope"/>
              </a:defRPr>
            </a:pPr>
            <a:r>
              <a:t>Infrastructure Readiness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Sarabun"/>
              </a:defRPr>
            </a:pPr>
            <a:r>
              <a:t>Network bandwidth, VPN access for go-live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C5C5C"/>
                </a:solidFill>
                <a:latin typeface="Inter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6454F"/>
                </a:solidFill>
                <a:latin typeface="Manrope"/>
              </a:defRPr>
            </a:pPr>
            <a:r>
              <a:t>Next Steps &amp;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6454F"/>
                </a:solidFill>
                <a:latin typeface="Manrope"/>
              </a:defRPr>
            </a:pPr>
            <a:r>
              <a:t>Technical Design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5C5C"/>
                </a:solidFill>
                <a:latin typeface="Sarabun"/>
              </a:defRPr>
            </a:pPr>
            <a:r>
              <a:t>May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6454F"/>
                </a:solidFill>
                <a:latin typeface="Manrope"/>
              </a:defRPr>
            </a:pPr>
            <a:r>
              <a:t>Steering Committee Alignment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5C5C"/>
                </a:solidFill>
                <a:latin typeface="Sarabun"/>
              </a:defRPr>
            </a:pPr>
            <a:r>
              <a:t>May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6454F"/>
                </a:solidFill>
                <a:latin typeface="Manrope"/>
              </a:defRPr>
            </a:pPr>
            <a:r>
              <a:t>Foundation Phase Kickoff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5C5C"/>
                </a:solidFill>
                <a:latin typeface="Sarabun"/>
              </a:defRPr>
            </a:pPr>
            <a:r>
              <a:t>May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6454F"/>
                </a:solidFill>
                <a:latin typeface="Manrope"/>
              </a:defRPr>
            </a:pPr>
            <a:r>
              <a:t>Go-Live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5C5C"/>
                </a:solidFill>
                <a:latin typeface="Sarabun"/>
              </a:defRPr>
            </a:pPr>
            <a:r>
              <a:t>Sep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C5C5C"/>
                </a:solidFill>
                <a:latin typeface="Inter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